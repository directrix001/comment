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6400800" cy="64008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FORECAST AUTOMATION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Ending manual link-chasing in the FY P&amp;L Summary workbook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solution design, and expected benefits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1280160" cy="0"/>
          </a:xfrm>
          <a:prstGeom prst="line">
            <a:avLst/>
          </a:prstGeom>
          <a:noFill/>
          <a:ln w="38100">
            <a:solidFill>
              <a:srgbClr val="1FA7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FP&amp;A / Consolidation team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workbook, dozens of moving parts, all updated by hand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2148840"/>
          </a:xfrm>
          <a:prstGeom prst="roundRect">
            <a:avLst>
              <a:gd name="adj" fmla="val 3830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194767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9519" y="21012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517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85800" y="322783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file links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re-point every cycle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19272" y="1691640"/>
            <a:ext cx="2514600" cy="2148840"/>
          </a:xfrm>
          <a:prstGeom prst="roundRect">
            <a:avLst>
              <a:gd name="adj" fmla="val 3830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4256532" y="194767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151" y="21012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19272" y="26517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3456432" y="322783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manual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cells to re-key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89904" y="1691640"/>
            <a:ext cx="2514600" cy="2148840"/>
          </a:xfrm>
          <a:prstGeom prst="roundRect">
            <a:avLst>
              <a:gd name="adj" fmla="val 3830"/>
            </a:avLst>
          </a:prstGeom>
          <a:solidFill>
            <a:srgbClr val="F4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027164" y="194767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783" y="21012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9904" y="26517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3400" dirty="0"/>
          </a:p>
        </p:txBody>
      </p:sp>
      <p:sp>
        <p:nvSpPr>
          <p:cNvPr id="18" name="Text 13"/>
          <p:cNvSpPr/>
          <p:nvPr/>
        </p:nvSpPr>
        <p:spPr>
          <a:xfrm>
            <a:off x="6227064" y="322783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 that must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internally consistent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860536" y="1691640"/>
            <a:ext cx="2514600" cy="2148840"/>
          </a:xfrm>
          <a:prstGeom prst="roundRect">
            <a:avLst>
              <a:gd name="adj" fmla="val 3830"/>
            </a:avLst>
          </a:prstGeom>
          <a:solidFill>
            <a:srgbClr val="F4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9797796" y="194767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415" y="210129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60536" y="26517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3" name="Text 17"/>
          <p:cNvSpPr/>
          <p:nvPr/>
        </p:nvSpPr>
        <p:spPr>
          <a:xfrm>
            <a:off x="8997696" y="322783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cycles a year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(2+10, 5+7, 7+5, 10+2)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160520"/>
            <a:ext cx="10826496" cy="1874520"/>
          </a:xfrm>
          <a:prstGeom prst="roundRect">
            <a:avLst>
              <a:gd name="adj" fmla="val 4390"/>
            </a:avLst>
          </a:prstGeom>
          <a:solidFill>
            <a:srgbClr val="FDEEEE"/>
          </a:solidFill>
          <a:ln/>
        </p:spPr>
      </p:sp>
      <p:sp>
        <p:nvSpPr>
          <p:cNvPr id="25" name="Shape 19"/>
          <p:cNvSpPr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34" y="456651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434340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month, someone manually finds this month’s source files, re-points every link one at a time, retypes the reclass and relief inputs from memory or a side sheet — and one wrong click on save can silently strip cached values and break links across the whole workbook.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Forecast Automation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manual process is slow, repetitive, and one mistake away from broken numbers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91914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6479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source file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623560" y="173736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38 links points to a differently-named file each cycle (folder, date, and version all change) — tracked down by memory.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3062143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90779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links from a routine re-save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623560" y="288036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and saving the workbook in the wrong tool wipes cached values, and Excel can no longer resolve the reference — #REF!/#NAME? across dozens of cells.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420514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05079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re-entry, cell by cell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5623560" y="402336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Reclass and Relief rows mix formulas with typed-in numbers (e.g. the Connectivity row) — 91 cells, entered by hand, with no audit trail of what changed.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5212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5348143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519379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lost every forecast cycle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5623560" y="516636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relinking and re-keying work is repeated four times a year, for every scenario, by whoever is available that month.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Forecast Automation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guided desktop tool that scans, matches, and relinks — in four clicks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14600" cy="3566160"/>
          </a:xfrm>
          <a:prstGeom prst="roundRect">
            <a:avLst>
              <a:gd name="adj" fmla="val 3273"/>
            </a:avLst>
          </a:prstGeom>
          <a:solidFill>
            <a:srgbClr val="141B49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2996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A7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440180" y="26060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5745" y="278160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520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Links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40233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 external link and every manual-input cell directly from the workbook.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044952" y="3429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A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19272" y="1920240"/>
            <a:ext cx="2514600" cy="3566160"/>
          </a:xfrm>
          <a:prstGeom prst="roundRect">
            <a:avLst>
              <a:gd name="adj" fmla="val 3273"/>
            </a:avLst>
          </a:prstGeom>
          <a:solidFill>
            <a:srgbClr val="141B49"/>
          </a:solidFill>
          <a:ln/>
        </p:spPr>
      </p:sp>
      <p:sp>
        <p:nvSpPr>
          <p:cNvPr id="12" name="Text 9"/>
          <p:cNvSpPr/>
          <p:nvPr/>
        </p:nvSpPr>
        <p:spPr>
          <a:xfrm>
            <a:off x="3483864" y="202996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A7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210812" y="26060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377" y="2781605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56432" y="3520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Auto-Match Files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02152" y="40233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Word-matches this cycle’s source files to each link by name, folder-wide.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815584" y="3429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A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089904" y="1920240"/>
            <a:ext cx="2514600" cy="3566160"/>
          </a:xfrm>
          <a:prstGeom prst="roundRect">
            <a:avLst>
              <a:gd name="adj" fmla="val 3273"/>
            </a:avLst>
          </a:prstGeom>
          <a:solidFill>
            <a:srgbClr val="141B49"/>
          </a:solidFill>
          <a:ln/>
        </p:spPr>
      </p:sp>
      <p:sp>
        <p:nvSpPr>
          <p:cNvPr id="19" name="Text 15"/>
          <p:cNvSpPr/>
          <p:nvPr/>
        </p:nvSpPr>
        <p:spPr>
          <a:xfrm>
            <a:off x="6254496" y="202996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A7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6981444" y="26060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009" y="2781605"/>
            <a:ext cx="380390" cy="38039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27064" y="3520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Manual Inputs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272784" y="40233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form for the cells that genuinely need a typed number.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586216" y="3429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A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8860536" y="1920240"/>
            <a:ext cx="2514600" cy="3566160"/>
          </a:xfrm>
          <a:prstGeom prst="roundRect">
            <a:avLst>
              <a:gd name="adj" fmla="val 3273"/>
            </a:avLst>
          </a:prstGeom>
          <a:solidFill>
            <a:srgbClr val="141B49"/>
          </a:solidFill>
          <a:ln/>
        </p:spPr>
      </p:sp>
      <p:sp>
        <p:nvSpPr>
          <p:cNvPr id="26" name="Text 21"/>
          <p:cNvSpPr/>
          <p:nvPr/>
        </p:nvSpPr>
        <p:spPr>
          <a:xfrm>
            <a:off x="9025128" y="202996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A7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9752076" y="26060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7641" y="2781605"/>
            <a:ext cx="380390" cy="38039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997696" y="3520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9043416" y="40233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updated file — every link resolved, nothing broken.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Forecast Automation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around one rule: never break a link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03520" cy="4206240"/>
          </a:xfrm>
          <a:prstGeom prst="roundRect">
            <a:avLst>
              <a:gd name="adj" fmla="val 1957"/>
            </a:avLst>
          </a:prstGeom>
          <a:solidFill>
            <a:srgbClr val="FDEEE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22347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94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approach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workbook, edit it, and save. Most tools — including a full reload/save in openpyxl — rewrite the entire package, which strips the cached values behind every external link. The next time the file opens, Excel can’t resolve the reference and formulas fail with #REF!/#NAME?.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303520" cy="4206240"/>
          </a:xfrm>
          <a:prstGeom prst="roundRect">
            <a:avLst>
              <a:gd name="adj" fmla="val 1957"/>
            </a:avLst>
          </a:prstGeom>
          <a:solidFill>
            <a:srgbClr val="EAFBF3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103120"/>
            <a:ext cx="548640" cy="548640"/>
          </a:xfrm>
          <a:prstGeom prst="ellipse">
            <a:avLst/>
          </a:prstGeom>
          <a:solidFill>
            <a:srgbClr val="1FA77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634" y="22347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94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A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tool’s approach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83464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re-saves the workbook as a whole. It edits only the exact XML parts that must change: the link’s target path, its cached values, and the specific manual cell’s number. Every formula, sheet, and style — and every other link — is copied through byte-for-byte, untouched.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Forecast Automation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BENEFITS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once this runs every cycle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1FA77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0409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928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back every cycle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took manual relinking of 38 files and re-keying 91 cells now takes a guided four-step run.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51960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1920240"/>
            <a:ext cx="502920" cy="502920"/>
          </a:xfrm>
          <a:prstGeom prst="ellipse">
            <a:avLst/>
          </a:prstGeom>
          <a:solidFill>
            <a:srgbClr val="1FA77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261" y="204094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8928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broken links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80560" y="25603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files are flagged and left untouched — never silently deleted or guessed at.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55280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183880" y="1920240"/>
            <a:ext cx="502920" cy="502920"/>
          </a:xfrm>
          <a:prstGeom prst="ellipse">
            <a:avLst/>
          </a:prstGeom>
          <a:solidFill>
            <a:srgbClr val="1FA77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581" y="204094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23960" y="18928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tool, all four scenarios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183880" y="25603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F2+10, F5+7, F7+5, F10+2 all run through the same matching and relinking logic.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1FA77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23550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0873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regardless of who runs it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47548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repeatable, guided process replaces tribal knowledge of where each file lives.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51960" y="3886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</p:spPr>
      </p:sp>
      <p:sp>
        <p:nvSpPr>
          <p:cNvPr id="25" name="Shape 19"/>
          <p:cNvSpPr/>
          <p:nvPr/>
        </p:nvSpPr>
        <p:spPr>
          <a:xfrm>
            <a:off x="4480560" y="4114800"/>
            <a:ext cx="502920" cy="502920"/>
          </a:xfrm>
          <a:prstGeom prst="ellipse">
            <a:avLst/>
          </a:prstGeom>
          <a:solidFill>
            <a:srgbClr val="1FA77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1261" y="4235501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40873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you can trust faster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480560" y="47548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values refresh immediately, so reviewers see current figures before Excel even recalculates.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955280" y="3886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</p:spPr>
      </p:sp>
      <p:sp>
        <p:nvSpPr>
          <p:cNvPr id="30" name="Shape 23"/>
          <p:cNvSpPr/>
          <p:nvPr/>
        </p:nvSpPr>
        <p:spPr>
          <a:xfrm>
            <a:off x="8183880" y="4114800"/>
            <a:ext cx="502920" cy="502920"/>
          </a:xfrm>
          <a:prstGeom prst="ellipse">
            <a:avLst/>
          </a:prstGeom>
          <a:solidFill>
            <a:srgbClr val="1FA77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4581" y="4235501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23960" y="40873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visibility into what changed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183880" y="47548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vs. unmatched links and every manual entry are shown before anything is written.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Forecast Automation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93192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run alongside the current process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Run it on this cycle’s file as a parallel check — compare its output to the manually built version.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1272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Confirm the auto-matched files and manual inputs look right before relying on the generated file.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785616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Fold it into the monthly close checklist once validated, for all four forecast scenarios.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581144"/>
            <a:ext cx="1280160" cy="0"/>
          </a:xfrm>
          <a:prstGeom prst="line">
            <a:avLst/>
          </a:prstGeom>
          <a:noFill/>
          <a:ln w="38100">
            <a:solidFill>
              <a:srgbClr val="1FA7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764024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the matching logic, the manual-input list, or adding more tabs to scan — happy to walk through the tool live.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2026-07-19T08:15:55Z</dcterms:created>
  <dcterms:modified xsi:type="dcterms:W3CDTF">2026-07-19T08:15:55Z</dcterms:modified>
</cp:coreProperties>
</file>